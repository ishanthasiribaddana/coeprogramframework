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1E3A8A"/>
                </a:solidFill>
              </a:defRPr>
            </a:pPr>
            <a:r>
              <a:t>COE Program Framework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64748B"/>
                </a:solidFill>
              </a:defRPr>
            </a:pPr>
            <a:r>
              <a:t>A Digital Platform for Program Management</a:t>
            </a:r>
            <a:br/>
            <a:r>
              <a:t>Ananda College Center of Excellence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E3A8A"/>
                </a:solidFill>
              </a:defRPr>
            </a:pPr>
            <a:r>
              <a:t>What is COE Program Framework?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400">
                <a:solidFill>
                  <a:srgbClr val="333333"/>
                </a:solidFill>
              </a:defRPr>
            </a:pPr>
            <a:r>
              <a:t>• A comprehensive web application for managing educational programs</a:t>
            </a:r>
          </a:p>
          <a:p>
            <a:pPr>
              <a:spcBef>
                <a:spcPts val="1200"/>
              </a:spcBef>
              <a:defRPr sz="2400">
                <a:solidFill>
                  <a:srgbClr val="333333"/>
                </a:solidFill>
              </a:defRPr>
            </a:pPr>
            <a:r>
              <a:t>• Designed for Ananda College Center of Excellence</a:t>
            </a:r>
          </a:p>
          <a:p>
            <a:pPr>
              <a:spcBef>
                <a:spcPts val="1200"/>
              </a:spcBef>
              <a:defRPr sz="2400">
                <a:solidFill>
                  <a:srgbClr val="333333"/>
                </a:solidFill>
              </a:defRPr>
            </a:pPr>
            <a:r>
              <a:t>• Enables 10 specialized centers to plan, track, and report programs</a:t>
            </a:r>
          </a:p>
          <a:p>
            <a:pPr>
              <a:spcBef>
                <a:spcPts val="1200"/>
              </a:spcBef>
              <a:defRPr sz="2400">
                <a:solidFill>
                  <a:srgbClr val="333333"/>
                </a:solidFill>
              </a:defRPr>
            </a:pPr>
            <a:r>
              <a:t>• Streamlines program identification and documentation</a:t>
            </a:r>
          </a:p>
          <a:p>
            <a:pPr>
              <a:spcBef>
                <a:spcPts val="1200"/>
              </a:spcBef>
              <a:defRPr sz="2400">
                <a:solidFill>
                  <a:srgbClr val="333333"/>
                </a:solidFill>
              </a:defRPr>
            </a:pPr>
            <a:r>
              <a:t>• Real-time collaboration and data synchronization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E3A8A"/>
                </a:solidFill>
              </a:defRPr>
            </a:pPr>
            <a:r>
              <a:t>The Challenge - Before the Framework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400">
                <a:solidFill>
                  <a:srgbClr val="333333"/>
                </a:solidFill>
              </a:defRPr>
            </a:pPr>
            <a:r>
              <a:t>• Manual program tracking across multiple centers</a:t>
            </a:r>
          </a:p>
          <a:p>
            <a:pPr>
              <a:spcBef>
                <a:spcPts val="1200"/>
              </a:spcBef>
              <a:defRPr sz="2400">
                <a:solidFill>
                  <a:srgbClr val="333333"/>
                </a:solidFill>
              </a:defRPr>
            </a:pPr>
            <a:r>
              <a:t>• Inconsistent documentation formats</a:t>
            </a:r>
          </a:p>
          <a:p>
            <a:pPr>
              <a:spcBef>
                <a:spcPts val="1200"/>
              </a:spcBef>
              <a:defRPr sz="2400">
                <a:solidFill>
                  <a:srgbClr val="333333"/>
                </a:solidFill>
              </a:defRPr>
            </a:pPr>
            <a:r>
              <a:t>• Difficulty in cross-center collaboration</a:t>
            </a:r>
          </a:p>
          <a:p>
            <a:pPr>
              <a:spcBef>
                <a:spcPts val="1200"/>
              </a:spcBef>
              <a:defRPr sz="2400">
                <a:solidFill>
                  <a:srgbClr val="333333"/>
                </a:solidFill>
              </a:defRPr>
            </a:pPr>
            <a:r>
              <a:t>• Time-consuming report generation</a:t>
            </a:r>
          </a:p>
          <a:p>
            <a:pPr>
              <a:spcBef>
                <a:spcPts val="1200"/>
              </a:spcBef>
              <a:defRPr sz="2400">
                <a:solidFill>
                  <a:srgbClr val="333333"/>
                </a:solidFill>
              </a:defRPr>
            </a:pPr>
            <a:r>
              <a:t>• No centralized data repository</a:t>
            </a:r>
          </a:p>
          <a:p>
            <a:pPr>
              <a:spcBef>
                <a:spcPts val="1200"/>
              </a:spcBef>
              <a:defRPr sz="2400">
                <a:solidFill>
                  <a:srgbClr val="333333"/>
                </a:solidFill>
              </a:defRPr>
            </a:pPr>
            <a:r>
              <a:t>• Limited visibility across departments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E3A8A"/>
                </a:solidFill>
              </a:defRPr>
            </a:pPr>
            <a:r>
              <a:t>The Solution - COE Program Framework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400">
                <a:solidFill>
                  <a:srgbClr val="333333"/>
                </a:solidFill>
              </a:defRPr>
            </a:pPr>
            <a:r>
              <a:t>✓ Centralized Platform - Single source of truth for all programs</a:t>
            </a:r>
          </a:p>
          <a:p>
            <a:pPr>
              <a:spcBef>
                <a:spcPts val="1200"/>
              </a:spcBef>
              <a:defRPr sz="2400">
                <a:solidFill>
                  <a:srgbClr val="333333"/>
                </a:solidFill>
              </a:defRPr>
            </a:pPr>
            <a:r>
              <a:t>✓ Real-time Updates - Instant synchronization across users</a:t>
            </a:r>
          </a:p>
          <a:p>
            <a:pPr>
              <a:spcBef>
                <a:spcPts val="1200"/>
              </a:spcBef>
              <a:defRPr sz="2400">
                <a:solidFill>
                  <a:srgbClr val="333333"/>
                </a:solidFill>
              </a:defRPr>
            </a:pPr>
            <a:r>
              <a:t>✓ Automated Reports - One-click PDF generation</a:t>
            </a:r>
          </a:p>
          <a:p>
            <a:pPr>
              <a:spcBef>
                <a:spcPts val="1200"/>
              </a:spcBef>
              <a:defRPr sz="2400">
                <a:solidFill>
                  <a:srgbClr val="333333"/>
                </a:solidFill>
              </a:defRPr>
            </a:pPr>
            <a:r>
              <a:t>✓ Cross-Center Integration - Seamless collaboration</a:t>
            </a:r>
          </a:p>
          <a:p>
            <a:pPr>
              <a:spcBef>
                <a:spcPts val="1200"/>
              </a:spcBef>
              <a:defRPr sz="2400">
                <a:solidFill>
                  <a:srgbClr val="333333"/>
                </a:solidFill>
              </a:defRPr>
            </a:pPr>
            <a:r>
              <a:t>✓ Cloud-based Storage - Secure and accessible anywhere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E3A8A"/>
                </a:solidFill>
              </a:defRPr>
            </a:pPr>
            <a:r>
              <a:t>10 Specialized Centers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2200"/>
            </a:pPr>
            <a:r>
              <a:t>🤖 AI Center</a:t>
            </a:r>
          </a:p>
          <a:p>
            <a:pPr>
              <a:spcBef>
                <a:spcPts val="800"/>
              </a:spcBef>
              <a:defRPr sz="2200"/>
            </a:pPr>
            <a:r>
              <a:t>⚡ STEAM Hub</a:t>
            </a:r>
          </a:p>
          <a:p>
            <a:pPr>
              <a:spcBef>
                <a:spcPts val="800"/>
              </a:spcBef>
              <a:defRPr sz="2200"/>
            </a:pPr>
            <a:r>
              <a:t>📚 Language Center</a:t>
            </a:r>
          </a:p>
          <a:p>
            <a:pPr>
              <a:spcBef>
                <a:spcPts val="800"/>
              </a:spcBef>
              <a:defRPr sz="2200"/>
            </a:pPr>
            <a:r>
              <a:t>🎭 Auditorium</a:t>
            </a:r>
          </a:p>
          <a:p>
            <a:pPr>
              <a:spcBef>
                <a:spcPts val="800"/>
              </a:spcBef>
              <a:defRPr sz="2200"/>
            </a:pPr>
            <a:r>
              <a:t>🔬 Science Center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37160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2200"/>
            </a:pPr>
            <a:r>
              <a:t>💼 Entrepreneurship Center</a:t>
            </a:r>
          </a:p>
          <a:p>
            <a:pPr>
              <a:spcBef>
                <a:spcPts val="800"/>
              </a:spcBef>
              <a:defRPr sz="2200"/>
            </a:pPr>
            <a:r>
              <a:t>🎬 Media Center</a:t>
            </a:r>
          </a:p>
          <a:p>
            <a:pPr>
              <a:spcBef>
                <a:spcPts val="800"/>
              </a:spcBef>
              <a:defRPr sz="2200"/>
            </a:pPr>
            <a:r>
              <a:t>📐 Mathematics Center</a:t>
            </a:r>
          </a:p>
          <a:p>
            <a:pPr>
              <a:spcBef>
                <a:spcPts val="800"/>
              </a:spcBef>
              <a:defRPr sz="2200"/>
            </a:pPr>
            <a:r>
              <a:t>🎨 Fine Arts Center</a:t>
            </a:r>
          </a:p>
          <a:p>
            <a:pPr>
              <a:spcBef>
                <a:spcPts val="800"/>
              </a:spcBef>
              <a:defRPr sz="2200"/>
            </a:pPr>
            <a:r>
              <a:t>🎵 Performing Arts Center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E3A8A"/>
                </a:solidFill>
              </a:defRPr>
            </a:pPr>
            <a:r>
              <a:t>Three Categories of Programs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400">
                <a:solidFill>
                  <a:srgbClr val="333333"/>
                </a:solidFill>
              </a:defRPr>
            </a:pPr>
            <a:r>
              <a:t>1. ADVANCED PROGRAMS</a:t>
            </a:r>
          </a:p>
          <a:p>
            <a:pPr>
              <a:spcBef>
                <a:spcPts val="1200"/>
              </a:spcBef>
              <a:defRPr sz="2400">
                <a:solidFill>
                  <a:srgbClr val="333333"/>
                </a:solidFill>
              </a:defRPr>
            </a:pPr>
            <a:r>
              <a:t>   • Employment-ready skills not in current curriculum</a:t>
            </a:r>
          </a:p>
          <a:p>
            <a:pPr>
              <a:spcBef>
                <a:spcPts val="1200"/>
              </a:spcBef>
              <a:defRPr sz="2400">
                <a:solidFill>
                  <a:srgbClr val="333333"/>
                </a:solidFill>
              </a:defRPr>
            </a:pPr>
            <a:r>
              <a:t>   • Core programs specific to each center</a:t>
            </a:r>
          </a:p>
          <a:p>
            <a:pPr>
              <a:spcBef>
                <a:spcPts val="1200"/>
              </a:spcBef>
              <a:defRPr sz="2400">
                <a:solidFill>
                  <a:srgbClr val="333333"/>
                </a:solidFill>
              </a:defRPr>
            </a:pPr>
          </a:p>
          <a:p>
            <a:pPr>
              <a:spcBef>
                <a:spcPts val="1200"/>
              </a:spcBef>
              <a:defRPr sz="2400">
                <a:solidFill>
                  <a:srgbClr val="333333"/>
                </a:solidFill>
              </a:defRPr>
            </a:pPr>
            <a:r>
              <a:t>2. STEAM PROGRAMS</a:t>
            </a:r>
          </a:p>
          <a:p>
            <a:pPr>
              <a:spcBef>
                <a:spcPts val="1200"/>
              </a:spcBef>
              <a:defRPr sz="2400">
                <a:solidFill>
                  <a:srgbClr val="333333"/>
                </a:solidFill>
              </a:defRPr>
            </a:pPr>
            <a:r>
              <a:t>   • Cross-disciplinary integration</a:t>
            </a:r>
          </a:p>
          <a:p>
            <a:pPr>
              <a:spcBef>
                <a:spcPts val="1200"/>
              </a:spcBef>
              <a:defRPr sz="2400">
                <a:solidFill>
                  <a:srgbClr val="333333"/>
                </a:solidFill>
              </a:defRPr>
            </a:pPr>
            <a:r>
              <a:t>   • Science, Technology, Engineering, Arts, Mathematics</a:t>
            </a:r>
          </a:p>
          <a:p>
            <a:pPr>
              <a:spcBef>
                <a:spcPts val="1200"/>
              </a:spcBef>
              <a:defRPr sz="2400">
                <a:solidFill>
                  <a:srgbClr val="333333"/>
                </a:solidFill>
              </a:defRPr>
            </a:pPr>
          </a:p>
          <a:p>
            <a:pPr>
              <a:spcBef>
                <a:spcPts val="1200"/>
              </a:spcBef>
              <a:defRPr sz="2400">
                <a:solidFill>
                  <a:srgbClr val="333333"/>
                </a:solidFill>
              </a:defRPr>
            </a:pPr>
            <a:r>
              <a:t>3. CROSS-CENTER PROGRAMS</a:t>
            </a:r>
          </a:p>
          <a:p>
            <a:pPr>
              <a:spcBef>
                <a:spcPts val="1200"/>
              </a:spcBef>
              <a:defRPr sz="2400">
                <a:solidFill>
                  <a:srgbClr val="333333"/>
                </a:solidFill>
              </a:defRPr>
            </a:pPr>
            <a:r>
              <a:t>   • Inter-center collaboration</a:t>
            </a:r>
          </a:p>
          <a:p>
            <a:pPr>
              <a:spcBef>
                <a:spcPts val="1200"/>
              </a:spcBef>
              <a:defRPr sz="2400">
                <a:solidFill>
                  <a:srgbClr val="333333"/>
                </a:solidFill>
              </a:defRPr>
            </a:pPr>
            <a:r>
              <a:t>   • Shared resources and expertise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E3A8A"/>
                </a:solidFill>
              </a:defRPr>
            </a:pPr>
            <a:r>
              <a:t>Application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400">
                <a:solidFill>
                  <a:srgbClr val="333333"/>
                </a:solidFill>
              </a:defRPr>
            </a:pPr>
            <a:r>
              <a:t>• Center Selection - Visual icons for easy navigation</a:t>
            </a:r>
          </a:p>
          <a:p>
            <a:pPr>
              <a:spcBef>
                <a:spcPts val="1200"/>
              </a:spcBef>
              <a:defRPr sz="2400">
                <a:solidFill>
                  <a:srgbClr val="333333"/>
                </a:solidFill>
              </a:defRPr>
            </a:pPr>
            <a:r>
              <a:t>• Program Management - Add, edit, remove programs</a:t>
            </a:r>
          </a:p>
          <a:p>
            <a:pPr>
              <a:spcBef>
                <a:spcPts val="1200"/>
              </a:spcBef>
              <a:defRPr sz="2400">
                <a:solidFill>
                  <a:srgbClr val="333333"/>
                </a:solidFill>
              </a:defRPr>
            </a:pPr>
            <a:r>
              <a:t>• Partnership Tracking - External and placement partners</a:t>
            </a:r>
          </a:p>
          <a:p>
            <a:pPr>
              <a:spcBef>
                <a:spcPts val="1200"/>
              </a:spcBef>
              <a:defRPr sz="2400">
                <a:solidFill>
                  <a:srgbClr val="333333"/>
                </a:solidFill>
              </a:defRPr>
            </a:pPr>
            <a:r>
              <a:t>• Student Associations - Link programs to student groups</a:t>
            </a:r>
          </a:p>
          <a:p>
            <a:pPr>
              <a:spcBef>
                <a:spcPts val="1200"/>
              </a:spcBef>
              <a:defRPr sz="2400">
                <a:solidFill>
                  <a:srgbClr val="333333"/>
                </a:solidFill>
              </a:defRPr>
            </a:pPr>
            <a:r>
              <a:t>• Report Generation - Professional PDF exports</a:t>
            </a:r>
          </a:p>
          <a:p>
            <a:pPr>
              <a:spcBef>
                <a:spcPts val="1200"/>
              </a:spcBef>
              <a:defRPr sz="2400">
                <a:solidFill>
                  <a:srgbClr val="333333"/>
                </a:solidFill>
              </a:defRPr>
            </a:pPr>
            <a:r>
              <a:t>• Auto-save - Real-time data persistence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E3A8A"/>
                </a:solidFill>
              </a:defRPr>
            </a:pPr>
            <a:r>
              <a:t>Information Captured Per Program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400">
                <a:solidFill>
                  <a:srgbClr val="333333"/>
                </a:solidFill>
              </a:defRPr>
            </a:pPr>
            <a:r>
              <a:t>• Module Name - Program/project title</a:t>
            </a:r>
          </a:p>
          <a:p>
            <a:pPr>
              <a:spcBef>
                <a:spcPts val="1200"/>
              </a:spcBef>
              <a:defRPr sz="2400">
                <a:solidFill>
                  <a:srgbClr val="333333"/>
                </a:solidFill>
              </a:defRPr>
            </a:pPr>
            <a:r>
              <a:t>• Duration - Estimated hours (e.g., 20-30 hrs)</a:t>
            </a:r>
          </a:p>
          <a:p>
            <a:pPr>
              <a:spcBef>
                <a:spcPts val="1200"/>
              </a:spcBef>
              <a:defRPr sz="2400">
                <a:solidFill>
                  <a:srgbClr val="333333"/>
                </a:solidFill>
              </a:defRPr>
            </a:pPr>
            <a:r>
              <a:t>• External Partnerships - Industry collaborators</a:t>
            </a:r>
          </a:p>
          <a:p>
            <a:pPr>
              <a:spcBef>
                <a:spcPts val="1200"/>
              </a:spcBef>
              <a:defRPr sz="2400">
                <a:solidFill>
                  <a:srgbClr val="333333"/>
                </a:solidFill>
              </a:defRPr>
            </a:pPr>
            <a:r>
              <a:t>• Career Guidance - Placement partners</a:t>
            </a:r>
          </a:p>
          <a:p>
            <a:pPr>
              <a:spcBef>
                <a:spcPts val="1200"/>
              </a:spcBef>
              <a:defRPr sz="2400">
                <a:solidFill>
                  <a:srgbClr val="333333"/>
                </a:solidFill>
              </a:defRPr>
            </a:pPr>
            <a:r>
              <a:t>• Student Associations - Linked student groups</a:t>
            </a:r>
          </a:p>
          <a:p>
            <a:pPr>
              <a:spcBef>
                <a:spcPts val="1200"/>
              </a:spcBef>
              <a:defRPr sz="2400">
                <a:solidFill>
                  <a:srgbClr val="333333"/>
                </a:solidFill>
              </a:defRPr>
            </a:pPr>
            <a:r>
              <a:t>• Cross Center - Partnering center (if applicable)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E3A8A"/>
                </a:solidFill>
              </a:defRPr>
            </a:pPr>
            <a:r>
              <a:t>Linked Student Organizations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400">
                <a:solidFill>
                  <a:srgbClr val="333333"/>
                </a:solidFill>
              </a:defRPr>
            </a:pPr>
            <a:r>
              <a:t>• Information and Communication Technology Unit</a:t>
            </a:r>
          </a:p>
          <a:p>
            <a:pPr>
              <a:spcBef>
                <a:spcPts val="1200"/>
              </a:spcBef>
              <a:defRPr sz="2400">
                <a:solidFill>
                  <a:srgbClr val="333333"/>
                </a:solidFill>
              </a:defRPr>
            </a:pPr>
            <a:r>
              <a:t>• Inventors' Association</a:t>
            </a:r>
          </a:p>
          <a:p>
            <a:pPr>
              <a:spcBef>
                <a:spcPts val="1200"/>
              </a:spcBef>
              <a:defRPr sz="2400">
                <a:solidFill>
                  <a:srgbClr val="333333"/>
                </a:solidFill>
              </a:defRPr>
            </a:pPr>
            <a:r>
              <a:t>• Entrepreneurship Association</a:t>
            </a:r>
          </a:p>
          <a:p>
            <a:pPr>
              <a:spcBef>
                <a:spcPts val="1200"/>
              </a:spcBef>
              <a:defRPr sz="2400">
                <a:solidFill>
                  <a:srgbClr val="333333"/>
                </a:solidFill>
              </a:defRPr>
            </a:pPr>
            <a:r>
              <a:t>• Engineering Technology Association</a:t>
            </a:r>
          </a:p>
          <a:p>
            <a:pPr>
              <a:spcBef>
                <a:spcPts val="1200"/>
              </a:spcBef>
              <a:defRPr sz="2400">
                <a:solidFill>
                  <a:srgbClr val="333333"/>
                </a:solidFill>
              </a:defRPr>
            </a:pPr>
            <a:r>
              <a:t>• Robotics Association</a:t>
            </a:r>
          </a:p>
          <a:p>
            <a:pPr>
              <a:spcBef>
                <a:spcPts val="1200"/>
              </a:spcBef>
              <a:defRPr sz="2400">
                <a:solidFill>
                  <a:srgbClr val="333333"/>
                </a:solidFill>
              </a:defRPr>
            </a:pPr>
            <a:r>
              <a:t>• Green Energy Association</a:t>
            </a:r>
          </a:p>
          <a:p>
            <a:pPr>
              <a:spcBef>
                <a:spcPts val="1200"/>
              </a:spcBef>
              <a:defRPr sz="2400">
                <a:solidFill>
                  <a:srgbClr val="333333"/>
                </a:solidFill>
              </a:defRPr>
            </a:pPr>
            <a:r>
              <a:t>• Research and Exploration Society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E3A8A"/>
                </a:solidFill>
              </a:defRPr>
            </a:pPr>
            <a:r>
              <a:t>Modern Technology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2200"/>
            </a:pPr>
            <a:r>
              <a:t>FRONTEND:</a:t>
            </a:r>
          </a:p>
          <a:p>
            <a:pPr>
              <a:spcBef>
                <a:spcPts val="800"/>
              </a:spcBef>
              <a:defRPr sz="2200"/>
            </a:pPr>
            <a:r>
              <a:t>• React 18 - User Interface</a:t>
            </a:r>
          </a:p>
          <a:p>
            <a:pPr>
              <a:spcBef>
                <a:spcPts val="800"/>
              </a:spcBef>
              <a:defRPr sz="2200"/>
            </a:pPr>
            <a:r>
              <a:t>• Tailwind CSS - Styling</a:t>
            </a:r>
          </a:p>
          <a:p>
            <a:pPr>
              <a:spcBef>
                <a:spcPts val="800"/>
              </a:spcBef>
              <a:defRPr sz="2200"/>
            </a:pPr>
            <a:r>
              <a:t>• Vite - Build Tool</a:t>
            </a:r>
          </a:p>
          <a:p>
            <a:pPr>
              <a:spcBef>
                <a:spcPts val="800"/>
              </a:spcBef>
              <a:defRPr sz="2200"/>
            </a:pPr>
            <a:r>
              <a:t>• Lucide Icons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37160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2200"/>
            </a:pPr>
            <a:r>
              <a:t>BACKEND:</a:t>
            </a:r>
          </a:p>
          <a:p>
            <a:pPr>
              <a:spcBef>
                <a:spcPts val="800"/>
              </a:spcBef>
              <a:defRPr sz="2200"/>
            </a:pPr>
            <a:r>
              <a:t>• Node.js - Server Runtime</a:t>
            </a:r>
          </a:p>
          <a:p>
            <a:pPr>
              <a:spcBef>
                <a:spcPts val="800"/>
              </a:spcBef>
              <a:defRPr sz="2200"/>
            </a:pPr>
            <a:r>
              <a:t>• Express.js - API Framework</a:t>
            </a:r>
          </a:p>
          <a:p>
            <a:pPr>
              <a:spcBef>
                <a:spcPts val="800"/>
              </a:spcBef>
              <a:defRPr sz="2200"/>
            </a:pPr>
            <a:r>
              <a:t>• MySQL/MariaDB - Database</a:t>
            </a:r>
          </a:p>
          <a:p>
            <a:pPr>
              <a:spcBef>
                <a:spcPts val="800"/>
              </a:spcBef>
              <a:defRPr sz="2200"/>
            </a:pPr>
            <a:r>
              <a:t>• JWT - Authentication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E3A8A"/>
                </a:solidFill>
              </a:defRPr>
            </a:pPr>
            <a: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400">
                <a:solidFill>
                  <a:srgbClr val="333333"/>
                </a:solidFill>
              </a:defRPr>
            </a:pPr>
            <a:r>
              <a:t>┌─────────────┐    ┌─────────────┐    ┌─────────────┐</a:t>
            </a:r>
          </a:p>
          <a:p>
            <a:pPr>
              <a:spcBef>
                <a:spcPts val="1200"/>
              </a:spcBef>
              <a:defRPr sz="2400">
                <a:solidFill>
                  <a:srgbClr val="333333"/>
                </a:solidFill>
              </a:defRPr>
            </a:pPr>
            <a:r>
              <a:t>│ Web Browser │ → │ Nginx/SSL   │ → │ Node.js API │</a:t>
            </a:r>
          </a:p>
          <a:p>
            <a:pPr>
              <a:spcBef>
                <a:spcPts val="1200"/>
              </a:spcBef>
              <a:defRPr sz="2400">
                <a:solidFill>
                  <a:srgbClr val="333333"/>
                </a:solidFill>
              </a:defRPr>
            </a:pPr>
            <a:r>
              <a:t>│ (React App) │    │ (Port 443)  │    │ (Port 3001) │</a:t>
            </a:r>
          </a:p>
          <a:p>
            <a:pPr>
              <a:spcBef>
                <a:spcPts val="1200"/>
              </a:spcBef>
              <a:defRPr sz="2400">
                <a:solidFill>
                  <a:srgbClr val="333333"/>
                </a:solidFill>
              </a:defRPr>
            </a:pPr>
            <a:r>
              <a:t>└─────────────┘    └─────────────┘    └──────┬──────┘</a:t>
            </a:r>
          </a:p>
          <a:p>
            <a:pPr>
              <a:spcBef>
                <a:spcPts val="1200"/>
              </a:spcBef>
              <a:defRPr sz="2400">
                <a:solidFill>
                  <a:srgbClr val="333333"/>
                </a:solidFill>
              </a:defRPr>
            </a:pPr>
            <a:r>
              <a:t>                                              ↓</a:t>
            </a:r>
          </a:p>
          <a:p>
            <a:pPr>
              <a:spcBef>
                <a:spcPts val="1200"/>
              </a:spcBef>
              <a:defRPr sz="2400">
                <a:solidFill>
                  <a:srgbClr val="333333"/>
                </a:solidFill>
              </a:defRPr>
            </a:pPr>
            <a:r>
              <a:t>                                    ┌─────────────────┐</a:t>
            </a:r>
          </a:p>
          <a:p>
            <a:pPr>
              <a:spcBef>
                <a:spcPts val="1200"/>
              </a:spcBef>
              <a:defRPr sz="2400">
                <a:solidFill>
                  <a:srgbClr val="333333"/>
                </a:solidFill>
              </a:defRPr>
            </a:pPr>
            <a:r>
              <a:t>                                    │ MySQL Database  │</a:t>
            </a:r>
          </a:p>
          <a:p>
            <a:pPr>
              <a:spcBef>
                <a:spcPts val="1200"/>
              </a:spcBef>
              <a:defRPr sz="2400">
                <a:solidFill>
                  <a:srgbClr val="333333"/>
                </a:solidFill>
              </a:defRPr>
            </a:pPr>
            <a:r>
              <a:t>                                    └─────────────────┘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E3A8A"/>
                </a:solidFill>
              </a:defRPr>
            </a:pPr>
            <a:r>
              <a:t>Normalized Database Schema (3NF)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400">
                <a:solidFill>
                  <a:srgbClr val="333333"/>
                </a:solidFill>
              </a:defRPr>
            </a:pPr>
            <a:r>
              <a:t>CORE TABLES:</a:t>
            </a:r>
          </a:p>
          <a:p>
            <a:pPr>
              <a:spcBef>
                <a:spcPts val="1200"/>
              </a:spcBef>
              <a:defRPr sz="2400">
                <a:solidFill>
                  <a:srgbClr val="333333"/>
                </a:solidFill>
              </a:defRPr>
            </a:pPr>
            <a:r>
              <a:t>• Centers, Programs, Program Types</a:t>
            </a:r>
          </a:p>
          <a:p>
            <a:pPr>
              <a:spcBef>
                <a:spcPts val="1200"/>
              </a:spcBef>
              <a:defRPr sz="2400">
                <a:solidFill>
                  <a:srgbClr val="333333"/>
                </a:solidFill>
              </a:defRPr>
            </a:pPr>
            <a:r>
              <a:t>• External Partners, Placement Partners, Student Associations</a:t>
            </a:r>
          </a:p>
          <a:p>
            <a:pPr>
              <a:spcBef>
                <a:spcPts val="1200"/>
              </a:spcBef>
              <a:defRPr sz="2400">
                <a:solidFill>
                  <a:srgbClr val="333333"/>
                </a:solidFill>
              </a:defRPr>
            </a:pPr>
          </a:p>
          <a:p>
            <a:pPr>
              <a:spcBef>
                <a:spcPts val="1200"/>
              </a:spcBef>
              <a:defRPr sz="2400">
                <a:solidFill>
                  <a:srgbClr val="333333"/>
                </a:solidFill>
              </a:defRPr>
            </a:pPr>
            <a:r>
              <a:t>JUNCTION TABLES:</a:t>
            </a:r>
          </a:p>
          <a:p>
            <a:pPr>
              <a:spcBef>
                <a:spcPts val="1200"/>
              </a:spcBef>
              <a:defRPr sz="2400">
                <a:solidFill>
                  <a:srgbClr val="333333"/>
                </a:solidFill>
              </a:defRPr>
            </a:pPr>
            <a:r>
              <a:t>• Program-Partners, Program-Placements, Program-Associations</a:t>
            </a:r>
          </a:p>
          <a:p>
            <a:pPr>
              <a:spcBef>
                <a:spcPts val="1200"/>
              </a:spcBef>
              <a:defRPr sz="2400">
                <a:solidFill>
                  <a:srgbClr val="333333"/>
                </a:solidFill>
              </a:defRPr>
            </a:pPr>
          </a:p>
          <a:p>
            <a:pPr>
              <a:spcBef>
                <a:spcPts val="1200"/>
              </a:spcBef>
              <a:defRPr sz="2400">
                <a:solidFill>
                  <a:srgbClr val="333333"/>
                </a:solidFill>
              </a:defRPr>
            </a:pPr>
            <a:r>
              <a:t>AUDIT TABLES:</a:t>
            </a:r>
          </a:p>
          <a:p>
            <a:pPr>
              <a:spcBef>
                <a:spcPts val="1200"/>
              </a:spcBef>
              <a:defRPr sz="2400">
                <a:solidFill>
                  <a:srgbClr val="333333"/>
                </a:solidFill>
              </a:defRPr>
            </a:pPr>
            <a:r>
              <a:t>• Submissions, Submission Notes, Audit Log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E3A8A"/>
                </a:solidFill>
              </a:defRPr>
            </a:pPr>
            <a:r>
              <a:t>Security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400">
                <a:solidFill>
                  <a:srgbClr val="333333"/>
                </a:solidFill>
              </a:defRPr>
            </a:pPr>
            <a:r>
              <a:t>🔒 HTTPS/SSL - Encrypted data transmission</a:t>
            </a:r>
          </a:p>
          <a:p>
            <a:pPr>
              <a:spcBef>
                <a:spcPts val="1200"/>
              </a:spcBef>
              <a:defRPr sz="2400">
                <a:solidFill>
                  <a:srgbClr val="333333"/>
                </a:solidFill>
              </a:defRPr>
            </a:pPr>
            <a:r>
              <a:t>🔑 JWT Authentication - Secure user sessions</a:t>
            </a:r>
          </a:p>
          <a:p>
            <a:pPr>
              <a:spcBef>
                <a:spcPts val="1200"/>
              </a:spcBef>
              <a:defRPr sz="2400">
                <a:solidFill>
                  <a:srgbClr val="333333"/>
                </a:solidFill>
              </a:defRPr>
            </a:pPr>
            <a:r>
              <a:t>👥 Role-based Access - Center-specific permissions</a:t>
            </a:r>
          </a:p>
          <a:p>
            <a:pPr>
              <a:spcBef>
                <a:spcPts val="1200"/>
              </a:spcBef>
              <a:defRPr sz="2400">
                <a:solidFill>
                  <a:srgbClr val="333333"/>
                </a:solidFill>
              </a:defRPr>
            </a:pPr>
            <a:r>
              <a:t>📝 Audit Logging - Track all changes</a:t>
            </a:r>
          </a:p>
          <a:p>
            <a:pPr>
              <a:spcBef>
                <a:spcPts val="1200"/>
              </a:spcBef>
              <a:defRPr sz="2400">
                <a:solidFill>
                  <a:srgbClr val="333333"/>
                </a:solidFill>
              </a:defRPr>
            </a:pPr>
            <a:r>
              <a:t>💾 Database Backup - Regular data backups</a:t>
            </a:r>
          </a:p>
          <a:p>
            <a:pPr>
              <a:spcBef>
                <a:spcPts val="1200"/>
              </a:spcBef>
              <a:defRPr sz="2400">
                <a:solidFill>
                  <a:srgbClr val="333333"/>
                </a:solidFill>
              </a:defRPr>
            </a:pPr>
            <a:r>
              <a:t>🛡️ Input Validation - Protection against attacks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E3A8A"/>
                </a:solidFill>
              </a:defRPr>
            </a:pPr>
            <a:r>
              <a:t>Current Implementation 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400">
                <a:solidFill>
                  <a:srgbClr val="333333"/>
                </a:solidFill>
              </a:defRPr>
            </a:pPr>
            <a:r>
              <a:t>✅ AI Center - 15+ programs finalized</a:t>
            </a:r>
          </a:p>
          <a:p>
            <a:pPr>
              <a:spcBef>
                <a:spcPts val="1200"/>
              </a:spcBef>
              <a:defRPr sz="2400">
                <a:solidFill>
                  <a:srgbClr val="333333"/>
                </a:solidFill>
              </a:defRPr>
            </a:pPr>
            <a:r>
              <a:t>✅ STEAM Hub - 10+ programs finalized</a:t>
            </a:r>
          </a:p>
          <a:p>
            <a:pPr>
              <a:spcBef>
                <a:spcPts val="1200"/>
              </a:spcBef>
              <a:defRPr sz="2400">
                <a:solidFill>
                  <a:srgbClr val="333333"/>
                </a:solidFill>
              </a:defRPr>
            </a:pPr>
            <a:r>
              <a:t>📝 Other Centers - Ready for input</a:t>
            </a:r>
          </a:p>
          <a:p>
            <a:pPr>
              <a:spcBef>
                <a:spcPts val="1200"/>
              </a:spcBef>
              <a:defRPr sz="2400">
                <a:solidFill>
                  <a:srgbClr val="333333"/>
                </a:solidFill>
              </a:defRPr>
            </a:pPr>
          </a:p>
          <a:p>
            <a:pPr>
              <a:spcBef>
                <a:spcPts val="1200"/>
              </a:spcBef>
              <a:defRPr sz="2400">
                <a:solidFill>
                  <a:srgbClr val="333333"/>
                </a:solidFill>
              </a:defRPr>
            </a:pPr>
            <a:r>
              <a:t>TOTAL: 43+ programs imported from master schedule</a:t>
            </a:r>
          </a:p>
          <a:p>
            <a:pPr>
              <a:spcBef>
                <a:spcPts val="1200"/>
              </a:spcBef>
              <a:defRPr sz="2400">
                <a:solidFill>
                  <a:srgbClr val="333333"/>
                </a:solidFill>
              </a:defRPr>
            </a:pPr>
          </a:p>
          <a:p>
            <a:pPr>
              <a:spcBef>
                <a:spcPts val="1200"/>
              </a:spcBef>
              <a:defRPr sz="2400">
                <a:solidFill>
                  <a:srgbClr val="333333"/>
                </a:solidFill>
              </a:defRPr>
            </a:pPr>
            <a:r>
              <a:t>Live URL: https://coe-sedf.oapf.org/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E3A8A"/>
                </a:solidFill>
              </a:defRPr>
            </a:pPr>
            <a:r>
              <a:t>Benefits Delivered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400">
                <a:solidFill>
                  <a:srgbClr val="333333"/>
                </a:solidFill>
              </a:defRPr>
            </a:pPr>
            <a:r>
              <a:t>✅ EFFICIENCY - Reduced documentation time by 70%</a:t>
            </a:r>
          </a:p>
          <a:p>
            <a:pPr>
              <a:spcBef>
                <a:spcPts val="1200"/>
              </a:spcBef>
              <a:defRPr sz="2400">
                <a:solidFill>
                  <a:srgbClr val="333333"/>
                </a:solidFill>
              </a:defRPr>
            </a:pPr>
            <a:r>
              <a:t>✅ CONSISTENCY - Standardized program formats</a:t>
            </a:r>
          </a:p>
          <a:p>
            <a:pPr>
              <a:spcBef>
                <a:spcPts val="1200"/>
              </a:spcBef>
              <a:defRPr sz="2400">
                <a:solidFill>
                  <a:srgbClr val="333333"/>
                </a:solidFill>
              </a:defRPr>
            </a:pPr>
            <a:r>
              <a:t>✅ COLLABORATION - Easy cross-center coordination</a:t>
            </a:r>
          </a:p>
          <a:p>
            <a:pPr>
              <a:spcBef>
                <a:spcPts val="1200"/>
              </a:spcBef>
              <a:defRPr sz="2400">
                <a:solidFill>
                  <a:srgbClr val="333333"/>
                </a:solidFill>
              </a:defRPr>
            </a:pPr>
            <a:r>
              <a:t>✅ ACCESSIBILITY - Available 24/7 from any device</a:t>
            </a:r>
          </a:p>
          <a:p>
            <a:pPr>
              <a:spcBef>
                <a:spcPts val="1200"/>
              </a:spcBef>
              <a:defRPr sz="2400">
                <a:solidFill>
                  <a:srgbClr val="333333"/>
                </a:solidFill>
              </a:defRPr>
            </a:pPr>
            <a:r>
              <a:t>✅ SCALABILITY - Ready for future expansion</a:t>
            </a:r>
          </a:p>
          <a:p>
            <a:pPr>
              <a:spcBef>
                <a:spcPts val="1200"/>
              </a:spcBef>
              <a:defRPr sz="2400">
                <a:solidFill>
                  <a:srgbClr val="333333"/>
                </a:solidFill>
              </a:defRPr>
            </a:pPr>
            <a:r>
              <a:t>✅ TRANSPARENCY - Real-time visibility for all stakeholders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E3A8A"/>
                </a:solidFill>
              </a:defRPr>
            </a:pPr>
            <a:r>
              <a:t>Future Enhancements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400">
                <a:solidFill>
                  <a:srgbClr val="333333"/>
                </a:solidFill>
              </a:defRPr>
            </a:pPr>
            <a:r>
              <a:t>• Dashboard Analytics - Visual program statistics</a:t>
            </a:r>
          </a:p>
          <a:p>
            <a:pPr>
              <a:spcBef>
                <a:spcPts val="1200"/>
              </a:spcBef>
              <a:defRPr sz="2400">
                <a:solidFill>
                  <a:srgbClr val="333333"/>
                </a:solidFill>
              </a:defRPr>
            </a:pPr>
            <a:r>
              <a:t>• Mobile App - Native iOS/Android support</a:t>
            </a:r>
          </a:p>
          <a:p>
            <a:pPr>
              <a:spcBef>
                <a:spcPts val="1200"/>
              </a:spcBef>
              <a:defRPr sz="2400">
                <a:solidFill>
                  <a:srgbClr val="333333"/>
                </a:solidFill>
              </a:defRPr>
            </a:pPr>
            <a:r>
              <a:t>• Approval Workflow - Multi-level program approval</a:t>
            </a:r>
          </a:p>
          <a:p>
            <a:pPr>
              <a:spcBef>
                <a:spcPts val="1200"/>
              </a:spcBef>
              <a:defRPr sz="2400">
                <a:solidFill>
                  <a:srgbClr val="333333"/>
                </a:solidFill>
              </a:defRPr>
            </a:pPr>
            <a:r>
              <a:t>• Calendar Integration - Schedule visualization</a:t>
            </a:r>
          </a:p>
          <a:p>
            <a:pPr>
              <a:spcBef>
                <a:spcPts val="1200"/>
              </a:spcBef>
              <a:defRPr sz="2400">
                <a:solidFill>
                  <a:srgbClr val="333333"/>
                </a:solidFill>
              </a:defRPr>
            </a:pPr>
            <a:r>
              <a:t>• Email Notifications - Automated alerts</a:t>
            </a:r>
          </a:p>
          <a:p>
            <a:pPr>
              <a:spcBef>
                <a:spcPts val="1200"/>
              </a:spcBef>
              <a:defRPr sz="2400">
                <a:solidFill>
                  <a:srgbClr val="333333"/>
                </a:solidFill>
              </a:defRPr>
            </a:pPr>
            <a:r>
              <a:t>• Export to Excel - Bulk data export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1E3A8A"/>
                </a:solidFill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64748B"/>
                </a:solidFill>
              </a:defRPr>
            </a:pPr>
            <a:r>
              <a:t>COE Program Framework</a:t>
            </a:r>
            <a:br/>
            <a:r>
              <a:t>Empowering Excellence Through Technology</a:t>
            </a:r>
            <a:br/>
            <a:br/>
            <a:r>
              <a:t>https://coe-sedf.oapf.org/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